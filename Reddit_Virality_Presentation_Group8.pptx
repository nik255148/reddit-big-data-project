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Virality Rate by Hour (UTC)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Viral Rate %</c:v>
                </c:pt>
              </c:strCache>
            </c:strRef>
          </c:tx>
          <c:spPr>
            <a:solidFill>
              <a:srgbClr val="9AB3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B3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B3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B3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B3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B3D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579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772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772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579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5797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9AB3D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9AB3D4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12AM</c:v>
                  </c:pt>
                  <c:pt idx="1">
                    <c:v>2AM</c:v>
                  </c:pt>
                  <c:pt idx="2">
                    <c:v>4AM</c:v>
                  </c:pt>
                  <c:pt idx="3">
                    <c:v>6AM</c:v>
                  </c:pt>
                  <c:pt idx="4">
                    <c:v>8AM</c:v>
                  </c:pt>
                  <c:pt idx="5">
                    <c:v>10AM</c:v>
                  </c:pt>
                  <c:pt idx="6">
                    <c:v>12PM</c:v>
                  </c:pt>
                  <c:pt idx="7">
                    <c:v>2PM</c:v>
                  </c:pt>
                  <c:pt idx="8">
                    <c:v>4PM</c:v>
                  </c:pt>
                  <c:pt idx="9">
                    <c:v>6PM</c:v>
                  </c:pt>
                  <c:pt idx="10">
                    <c:v>8PM</c:v>
                  </c:pt>
                  <c:pt idx="11">
                    <c:v>10PM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1.232</c:v>
                </c:pt>
                <c:pt idx="1">
                  <c:v>1.132</c:v>
                </c:pt>
                <c:pt idx="2">
                  <c:v>1.066</c:v>
                </c:pt>
                <c:pt idx="3">
                  <c:v>1.007</c:v>
                </c:pt>
                <c:pt idx="4">
                  <c:v>1.145</c:v>
                </c:pt>
                <c:pt idx="5">
                  <c:v>1.449</c:v>
                </c:pt>
                <c:pt idx="6">
                  <c:v>1.729</c:v>
                </c:pt>
                <c:pt idx="7">
                  <c:v>1.787</c:v>
                </c:pt>
                <c:pt idx="8">
                  <c:v>1.631</c:v>
                </c:pt>
                <c:pt idx="9">
                  <c:v>1.468</c:v>
                </c:pt>
                <c:pt idx="10">
                  <c:v>1.32</c:v>
                </c:pt>
                <c:pt idx="11">
                  <c:v>1.18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Virality Rate by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Viral Rate %</c:v>
                </c:pt>
              </c:strCache>
            </c:strRef>
          </c:tx>
          <c:spPr>
            <a:solidFill>
              <a:srgbClr val="2E57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57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7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579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77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77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579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5797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1.34</c:v>
                </c:pt>
                <c:pt idx="1">
                  <c:v>1.278</c:v>
                </c:pt>
                <c:pt idx="2">
                  <c:v>1.343</c:v>
                </c:pt>
                <c:pt idx="3">
                  <c:v>1.467</c:v>
                </c:pt>
                <c:pt idx="4">
                  <c:v>1.48</c:v>
                </c:pt>
                <c:pt idx="5">
                  <c:v>1.436</c:v>
                </c:pt>
                <c:pt idx="6">
                  <c:v>1.291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% of Posts by Score Bucket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Posts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0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0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579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6E4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772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Score=1 (default)</c:v>
                  </c:pt>
                  <c:pt idx="1">
                    <c:v>Score 2-5</c:v>
                  </c:pt>
                  <c:pt idx="2">
                    <c:v>Score 6-50</c:v>
                  </c:pt>
                  <c:pt idx="3">
                    <c:v>Score 51-500</c:v>
                  </c:pt>
                  <c:pt idx="4">
                    <c:v>Score 501-5K</c:v>
                  </c:pt>
                  <c:pt idx="5">
                    <c:v>Score 5K+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64.9</c:v>
                </c:pt>
                <c:pt idx="1">
                  <c:v>13.8</c:v>
                </c:pt>
                <c:pt idx="2">
                  <c:v>13</c:v>
                </c:pt>
                <c:pt idx="3">
                  <c:v>4.7</c:v>
                </c:pt>
                <c:pt idx="4">
                  <c:v>0.7</c:v>
                </c:pt>
                <c:pt idx="5">
                  <c:v>0.04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Viral Rate % by User Activity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Viral Rate %</c:v>
                </c:pt>
              </c:strCache>
            </c:strRef>
          </c:tx>
          <c:spPr>
            <a:solidFill>
              <a:srgbClr val="9AB3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B3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B3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B3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77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B3D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 post</c:v>
                  </c:pt>
                  <c:pt idx="1">
                    <c:v>2–5 posts</c:v>
                  </c:pt>
                  <c:pt idx="2">
                    <c:v>6–20 posts</c:v>
                  </c:pt>
                  <c:pt idx="3">
                    <c:v>21–100 posts</c:v>
                  </c:pt>
                  <c:pt idx="4">
                    <c:v>100+ posts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0.571</c:v>
                </c:pt>
                <c:pt idx="1">
                  <c:v>0.696</c:v>
                </c:pt>
                <c:pt idx="2">
                  <c:v>0.883</c:v>
                </c:pt>
                <c:pt idx="3">
                  <c:v>1.074</c:v>
                </c:pt>
                <c:pt idx="4">
                  <c:v>0.715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Sentiment Count by Top Subreddits (June 2023)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D6E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AskReddit</c:v>
                  </c:pt>
                  <c:pt idx="1">
                    <c:v>FreeKarma4You</c:v>
                  </c:pt>
                  <c:pt idx="2">
                    <c:v>AutoNewspaper</c:v>
                  </c:pt>
                  <c:pt idx="3">
                    <c:v>NaturalCurves</c:v>
                  </c:pt>
                  <c:pt idx="4">
                    <c:v>TheOnesYouLust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521</c:v>
                </c:pt>
                <c:pt idx="1">
                  <c:v>277</c:v>
                </c:pt>
                <c:pt idx="2">
                  <c:v>0</c:v>
                </c:pt>
                <c:pt idx="3">
                  <c:v>243</c:v>
                </c:pt>
                <c:pt idx="4">
                  <c:v>218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AskReddit</c:v>
                  </c:pt>
                  <c:pt idx="1">
                    <c:v>FreeKarma4You</c:v>
                  </c:pt>
                  <c:pt idx="2">
                    <c:v>AutoNewspaper</c:v>
                  </c:pt>
                  <c:pt idx="3">
                    <c:v>NaturalCurves</c:v>
                  </c:pt>
                  <c:pt idx="4">
                    <c:v>TheOnesYouLust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697</c:v>
                </c:pt>
                <c:pt idx="1">
                  <c:v>0</c:v>
                </c:pt>
                <c:pt idx="2">
                  <c:v>286</c:v>
                </c:pt>
                <c:pt idx="3">
                  <c:v>238</c:v>
                </c:pt>
                <c:pt idx="4">
                  <c:v>258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Model R² Comparison (higher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E87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772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7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8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Random Forest</c:v>
                  </c:pt>
                  <c:pt idx="2">
                    <c:v>Gradient Boosted Trees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0.197</c:v>
                </c:pt>
                <c:pt idx="1">
                  <c:v>0.134</c:v>
                </c:pt>
                <c:pt idx="2">
                  <c:v>0.14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Reddit Virality &amp;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7722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Controversy Analysis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500 million Reddit posts go viral?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486400" cy="0"/>
          </a:xfrm>
          <a:prstGeom prst="line">
            <a:avLst/>
          </a:prstGeom>
          <a:noFill/>
          <a:ln w="254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 6000 — Big Data at Scale  |  </a:t>
            </a:r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 GB Reddit Dataset  |  Apache Spark on EC2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457200"/>
            <a:ext cx="1645920" cy="164592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2286000"/>
            <a:ext cx="1097280" cy="109728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3200400"/>
            <a:ext cx="2011680" cy="13716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2E579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Reddit post go viral — positivity, negativity, or controversy?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06040"/>
            <a:ext cx="2606040" cy="38404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060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EDA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posts, when,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much?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60604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606040"/>
            <a:ext cx="2606040" cy="38404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26060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NLP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306324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they saying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does it sound?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60604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606040"/>
            <a:ext cx="2606040" cy="38404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6060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ML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306324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which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will take off?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using Apache Spark on a 4-node EC2 cluster — 446 GB of Reddit data, ~500M posts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Infrastructure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1280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24712"/>
            <a:ext cx="2011680" cy="742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446 GB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794053"/>
            <a:ext cx="201168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Reddit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2011680" cy="1280160"/>
          </a:xfrm>
          <a:prstGeom prst="rect">
            <a:avLst/>
          </a:prstGeom>
          <a:solidFill>
            <a:srgbClr val="2E5797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124712"/>
            <a:ext cx="2011680" cy="742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~500M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1794053"/>
            <a:ext cx="201168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(14 mo.)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2011680" cy="1280160"/>
          </a:xfrm>
          <a:prstGeom prst="rect">
            <a:avLst/>
          </a:prstGeom>
          <a:solidFill>
            <a:srgbClr val="E87722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124712"/>
            <a:ext cx="2011680" cy="742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~3 Billion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00600" y="1794053"/>
            <a:ext cx="201168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1051560"/>
            <a:ext cx="1828800" cy="1280160"/>
          </a:xfrm>
          <a:prstGeom prst="rect">
            <a:avLst/>
          </a:prstGeom>
          <a:solidFill>
            <a:srgbClr val="0D6E4C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124712"/>
            <a:ext cx="1828800" cy="742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 Nodes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040880" y="1794053"/>
            <a:ext cx="182880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Spark Cluster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606040"/>
            <a:ext cx="4023360" cy="114300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06040"/>
            <a:ext cx="54864" cy="1143000"/>
          </a:xfrm>
          <a:prstGeom prst="rect">
            <a:avLst/>
          </a:prstGeom>
          <a:solidFill>
            <a:srgbClr val="2E579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97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&amp; Format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990088"/>
            <a:ext cx="3822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on AWS S3 — columnar format enables partition pruning.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partitioned by year/month: only read the months you need.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606040"/>
            <a:ext cx="4206240" cy="114300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2606040"/>
            <a:ext cx="54864" cy="1143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6974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Setup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2990088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Master + 3 Worker nodes on EC2.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jobs submitted via spark-submit. PySpark + Spark MLlib + Spark NLP.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931920"/>
            <a:ext cx="4023360" cy="91440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931920"/>
            <a:ext cx="54864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23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Workflow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315968"/>
            <a:ext cx="3822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with common.py shared module.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script pushes code to cluster before each run.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931920"/>
            <a:ext cx="4206240" cy="91440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931920"/>
            <a:ext cx="54864" cy="914400"/>
          </a:xfrm>
          <a:prstGeom prst="rect">
            <a:avLst/>
          </a:prstGeom>
          <a:solidFill>
            <a:srgbClr val="0D6E4C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4023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Spark?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4315968"/>
            <a:ext cx="4005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would crash on 446 GB. Spark distributes processing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nodes — no single machine bottleneck.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Which Subreddits Go Viral?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23360" cy="347472"/>
          </a:xfrm>
          <a:prstGeom prst="rect">
            <a:avLst/>
          </a:prstGeom>
          <a:solidFill>
            <a:srgbClr val="2E579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VIRALITY  (score ≥ 1,000 OR comments ≥ 100)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399032"/>
            <a:ext cx="40233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990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BestofRedditorUpdates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3990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4023360" cy="384048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83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CuratedTumblr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17830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167128"/>
            <a:ext cx="40233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671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moderatepolitics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1671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36.1%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551176"/>
            <a:ext cx="4023360" cy="384048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511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SaintMeghanMarkle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5511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35224"/>
            <a:ext cx="40233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3522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wholesomeanimemes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29352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34.8%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051560"/>
            <a:ext cx="4114800" cy="34747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VIRALITY  (score ≥ 10× subreddit median)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399032"/>
            <a:ext cx="41148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3990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TalesFromTheFrontDesk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35240" y="13990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6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48.6%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783080"/>
            <a:ext cx="4114800" cy="384048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7830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MadeMeSmile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35240" y="17830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6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167128"/>
            <a:ext cx="41148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1671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rarepuppers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21671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6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47.1%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551176"/>
            <a:ext cx="4114800" cy="384048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5511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toolgifs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35240" y="25511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6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2935224"/>
            <a:ext cx="41148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9352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AbandonedPorn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35240" y="29352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6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47.6%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224528"/>
            <a:ext cx="8503920" cy="64008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42245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Virality is community-relative. Small passionate communities (rarepuppers, MadeMeSmile) consistently outperform their own baseline — even when absolute numbers look modest.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Does Timing Matter?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 / 12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577840" y="1051560"/>
          <a:ext cx="3246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4224528"/>
            <a:ext cx="8503920" cy="64008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Text 4"/>
          <p:cNvSpPr/>
          <p:nvPr/>
        </p:nvSpPr>
        <p:spPr>
          <a:xfrm>
            <a:off x="411480" y="42245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Post Wednesday–Friday, noon–3 PM UTC. Peak viral rate ~1.79%. Weekend posts perform nearly 30% worse than weekday peaks.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How Is Engagement Distributed?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 / 12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1051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Law in Numbers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1508760"/>
            <a:ext cx="3108960" cy="749808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581912"/>
            <a:ext cx="3108960" cy="434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65%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669280" y="1943649"/>
            <a:ext cx="3108960" cy="284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posts get exactly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upvote — invisible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350008"/>
            <a:ext cx="3108960" cy="749808"/>
          </a:xfrm>
          <a:prstGeom prst="rect">
            <a:avLst/>
          </a:prstGeom>
          <a:solidFill>
            <a:srgbClr val="2E5797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0" y="2423160"/>
            <a:ext cx="3108960" cy="434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0.3%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669280" y="2784897"/>
            <a:ext cx="3108960" cy="284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posts capture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of all engagement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3191256"/>
            <a:ext cx="3108960" cy="749808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69280" y="3264408"/>
            <a:ext cx="3108960" cy="434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0.014%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669280" y="3626145"/>
            <a:ext cx="3108960" cy="284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posts score above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upvotes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0" y="4032504"/>
            <a:ext cx="3108960" cy="749808"/>
          </a:xfrm>
          <a:prstGeom prst="rect">
            <a:avLst/>
          </a:prstGeom>
          <a:solidFill>
            <a:srgbClr val="2E5797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669280" y="4105656"/>
            <a:ext cx="3108960" cy="434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12%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669280" y="4467393"/>
            <a:ext cx="3108960" cy="284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engagement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 top 75K posts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4224528"/>
            <a:ext cx="8503920" cy="64008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42245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Reddit is winner-take-all. 80% of posts are ignored. The top 0.3% dominate attention. Predicting virality early matters enormously.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Do Power Users Have an Advantage?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 / 12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Finding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577840" y="1508760"/>
            <a:ext cx="3200400" cy="11887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508760"/>
            <a:ext cx="54864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0" y="16002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Poster: EchoJobs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0" y="1892808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million posts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score: 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posts: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Pure bot, zero engagement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2834640"/>
            <a:ext cx="3200400" cy="91440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2834640"/>
            <a:ext cx="54864" cy="914400"/>
          </a:xfrm>
          <a:prstGeom prst="rect">
            <a:avLst/>
          </a:prstGeom>
          <a:solidFill>
            <a:srgbClr val="0D6E4C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0" y="29260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Spot: 21–100 Posts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0" y="3218688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rate 1.07%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100+ posters (0.71%)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Human, intentional, consistent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77840" y="3886200"/>
            <a:ext cx="3200400" cy="82296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886200"/>
            <a:ext cx="54864" cy="822960"/>
          </a:xfrm>
          <a:prstGeom prst="rect">
            <a:avLst/>
          </a:prstGeom>
          <a:solidFill>
            <a:srgbClr val="2E5797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0" y="39776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15000" y="4270248"/>
            <a:ext cx="2999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posting ≠ more quality.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spam dominates volume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generates no engagement.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4224528"/>
            <a:ext cx="8503920" cy="64008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42245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Moderate, intentional human posting beats both spam and one-timers. Quality and consistency &gt; raw volume.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Does Sentiment Drive Engagement?  [NLP]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Pipeline: Spark NLP + BERT-based SentimentDL model (distributed inference — no single-machine bottleneck)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50876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508760"/>
            <a:ext cx="3017520" cy="9601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508760"/>
            <a:ext cx="54864" cy="960120"/>
          </a:xfrm>
          <a:prstGeom prst="rect">
            <a:avLst/>
          </a:prstGeom>
          <a:solidFill>
            <a:srgbClr val="2E5797"/>
          </a:solidFill>
          <a:ln/>
        </p:spPr>
      </p:sp>
      <p:sp>
        <p:nvSpPr>
          <p:cNvPr id="9" name="Text 6"/>
          <p:cNvSpPr/>
          <p:nvPr/>
        </p:nvSpPr>
        <p:spPr>
          <a:xfrm>
            <a:off x="5897880" y="16002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89280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AskReddit: more negative posts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positive — but both drive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comment counts.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578608"/>
            <a:ext cx="3017520" cy="9601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578608"/>
            <a:ext cx="54864" cy="9601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3" name="Text 10"/>
          <p:cNvSpPr/>
          <p:nvPr/>
        </p:nvSpPr>
        <p:spPr>
          <a:xfrm>
            <a:off x="5897880" y="26700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Varies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97880" y="2962656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subs lean positive.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subs lean negative.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 rule applies.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3648456"/>
            <a:ext cx="3017520" cy="82296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3648456"/>
            <a:ext cx="54864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4"/>
          <p:cNvSpPr/>
          <p:nvPr/>
        </p:nvSpPr>
        <p:spPr>
          <a:xfrm>
            <a:off x="5897880" y="373989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Note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97880" y="4032504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model ran as Spark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full dataset — scalable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500M+ posts.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4224528"/>
            <a:ext cx="8503920" cy="64008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42245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Sentiment is community-specific. Negativity drives comments in debate subs; positivity wins in wholesome communities.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What Language Do Viral Posts Use?  [TF-IDF]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TF-IDF (Term Frequency – Inverse Document Frequency) — identifies words distinctively common in viral vs. average posts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1508760" cy="749808"/>
          </a:xfrm>
          <a:prstGeom prst="rect">
            <a:avLst/>
          </a:prstGeom>
          <a:solidFill>
            <a:srgbClr val="2E5797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0020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people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1215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65960" y="1554480"/>
            <a:ext cx="1508760" cy="749808"/>
          </a:xfrm>
          <a:prstGeom prst="rect">
            <a:avLst/>
          </a:prstGeom>
          <a:solidFill>
            <a:srgbClr val="2E5797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160020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think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2011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1018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11880" y="1554480"/>
            <a:ext cx="1508760" cy="749808"/>
          </a:xfrm>
          <a:prstGeom prst="rect">
            <a:avLst/>
          </a:prstGeom>
          <a:solidFill>
            <a:srgbClr val="E87722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160020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best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011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734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983480" y="1554480"/>
            <a:ext cx="1508760" cy="749808"/>
          </a:xfrm>
          <a:prstGeom prst="rect">
            <a:avLst/>
          </a:prstGeom>
          <a:solidFill>
            <a:srgbClr val="E87722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160020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favorite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011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802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92240" y="1554480"/>
            <a:ext cx="1508760" cy="749808"/>
          </a:xfrm>
          <a:prstGeom prst="rect">
            <a:avLst/>
          </a:prstGeom>
          <a:solidFill>
            <a:srgbClr val="0D6E4C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160020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game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011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823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468880"/>
            <a:ext cx="1508760" cy="749808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251460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trump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2926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636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965960" y="2468880"/>
            <a:ext cx="1508760" cy="749808"/>
          </a:xfrm>
          <a:prstGeom prst="rect">
            <a:avLst/>
          </a:prstGeom>
          <a:solidFill>
            <a:srgbClr val="E87722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965960" y="251460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pride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65960" y="2926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846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11880" y="2468880"/>
            <a:ext cx="1508760" cy="749808"/>
          </a:xfrm>
          <a:prstGeom prst="rect">
            <a:avLst/>
          </a:prstGeom>
          <a:solidFill>
            <a:srgbClr val="2E5797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11880" y="251460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new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11880" y="2926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765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83480" y="2468880"/>
            <a:ext cx="1508760" cy="749808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83480" y="251460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2024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83480" y="2926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686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92240" y="2468880"/>
            <a:ext cx="1508760" cy="749808"/>
          </a:xfrm>
          <a:prstGeom prst="rect">
            <a:avLst/>
          </a:prstGeom>
          <a:solidFill>
            <a:srgbClr val="2E5797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92240" y="251460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never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92240" y="2926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606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3383280"/>
            <a:ext cx="2651760" cy="9601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383280"/>
            <a:ext cx="54864" cy="960120"/>
          </a:xfrm>
          <a:prstGeom prst="rect">
            <a:avLst/>
          </a:prstGeom>
          <a:solidFill>
            <a:srgbClr val="2E5797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474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Openers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3767328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like 'think', 'people', 'favorite'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opinion-asking posts —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'AskReddit formula'.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54680" y="3383280"/>
            <a:ext cx="2560320" cy="9601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54680" y="3383280"/>
            <a:ext cx="54864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3291840" y="34747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&amp; Cultural Hooks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91840" y="376732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'Trump', 'pride', '2024' suggest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news-adjacent content generates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emotional engagement.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97880" y="3383280"/>
            <a:ext cx="2880360" cy="9601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897880" y="3383280"/>
            <a:ext cx="54864" cy="960120"/>
          </a:xfrm>
          <a:prstGeom prst="rect">
            <a:avLst/>
          </a:prstGeom>
          <a:solidFill>
            <a:srgbClr val="0D6E4C"/>
          </a:solidFill>
          <a:ln/>
        </p:spPr>
      </p:sp>
      <p:sp>
        <p:nvSpPr>
          <p:cNvPr id="46" name="Text 44"/>
          <p:cNvSpPr/>
          <p:nvPr/>
        </p:nvSpPr>
        <p:spPr>
          <a:xfrm>
            <a:off x="6035040" y="347472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&amp; Community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35040" y="3767328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'game', 'best', 'new' signal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community-celebration posts: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 lists, recommendations.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224528"/>
            <a:ext cx="8503920" cy="64008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9" name="Text 47"/>
          <p:cNvSpPr/>
          <p:nvPr/>
        </p:nvSpPr>
        <p:spPr>
          <a:xfrm>
            <a:off x="411480" y="42245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Viral titles ask opinions, tap emotion, or celebrate community. Creators have a vocabulary playbook from this data.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Can We Predict Comment Count?  [Machine Learning]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Predict # of comments a post will receive  |  Features: posting hour, day of week, title length, subreddit  |  Framework: Spark MLlib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50876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508760"/>
            <a:ext cx="333756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5532120" y="15087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   RMSE     R²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1892808"/>
            <a:ext cx="73152" cy="47548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0" name="Shape 7"/>
          <p:cNvSpPr/>
          <p:nvPr/>
        </p:nvSpPr>
        <p:spPr>
          <a:xfrm>
            <a:off x="5559552" y="1892808"/>
            <a:ext cx="3264408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577840" y="18928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06640" y="1892808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52.74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92440" y="1892808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0.197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0" y="2368296"/>
            <a:ext cx="73152" cy="475488"/>
          </a:xfrm>
          <a:prstGeom prst="rect">
            <a:avLst/>
          </a:prstGeom>
          <a:solidFill>
            <a:srgbClr val="2E5797"/>
          </a:solidFill>
          <a:ln/>
        </p:spPr>
      </p:sp>
      <p:sp>
        <p:nvSpPr>
          <p:cNvPr id="15" name="Shape 12"/>
          <p:cNvSpPr/>
          <p:nvPr/>
        </p:nvSpPr>
        <p:spPr>
          <a:xfrm>
            <a:off x="5559552" y="2368296"/>
            <a:ext cx="3264408" cy="475488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236829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06640" y="2368296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92440" y="2368296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0" y="2843784"/>
            <a:ext cx="73152" cy="475488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20" name="Shape 17"/>
          <p:cNvSpPr/>
          <p:nvPr/>
        </p:nvSpPr>
        <p:spPr>
          <a:xfrm>
            <a:off x="5559552" y="2843784"/>
            <a:ext cx="3264408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5577840" y="284378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406640" y="2843784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54.58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092440" y="2843784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0" y="3429000"/>
            <a:ext cx="3337560" cy="68580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486400" y="3429000"/>
            <a:ext cx="54864" cy="685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6" name="Text 23"/>
          <p:cNvSpPr/>
          <p:nvPr/>
        </p:nvSpPr>
        <p:spPr>
          <a:xfrm>
            <a:off x="5623560" y="352044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Wins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23560" y="3813048"/>
            <a:ext cx="3136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outperformed tree models.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metadata → comment count relationship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simpler than trees expected.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86400" y="4206240"/>
            <a:ext cx="3337560" cy="68580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486400" y="4206240"/>
            <a:ext cx="54864" cy="685800"/>
          </a:xfrm>
          <a:prstGeom prst="rect">
            <a:avLst/>
          </a:prstGeom>
          <a:solidFill>
            <a:srgbClr val="2E5797"/>
          </a:solidFill>
          <a:ln/>
        </p:spPr>
      </p:sp>
      <p:sp>
        <p:nvSpPr>
          <p:cNvPr id="30" name="Text 27"/>
          <p:cNvSpPr/>
          <p:nvPr/>
        </p:nvSpPr>
        <p:spPr>
          <a:xfrm>
            <a:off x="5623560" y="429768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R² = 0.20 Means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23560" y="4590288"/>
            <a:ext cx="3136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features explain 20% of comment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variation. Impressive for human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— but room to grow.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0040" y="4224528"/>
            <a:ext cx="8503920" cy="64008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42245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Metadata features give ~20% predictive power. Adding NLP sentiment scores as features would likely push this significantly higher.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54864" cy="1325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247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It's Winner-Take-All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514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posts get 1 upvote. Top 0.3% capture 44% of engagement. Reddit is not a level playing field.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54864" cy="132588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247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Timing Matters (~2×)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514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Wed–Fri, noon–3 PM UTC. Peak viral rate is nearly double the worst-case off-hours rate.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51560"/>
            <a:ext cx="54864" cy="1325880"/>
          </a:xfrm>
          <a:prstGeom prst="rect">
            <a:avLst/>
          </a:prstGeom>
          <a:solidFill>
            <a:srgbClr val="2E5797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1247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Bots Kill Virality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508760"/>
            <a:ext cx="2514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posters by volume (millions of posts) generate zero engagement. Intentional posting beats spam.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532888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32888"/>
            <a:ext cx="54864" cy="1325880"/>
          </a:xfrm>
          <a:prstGeom prst="rect">
            <a:avLst/>
          </a:prstGeom>
          <a:solidFill>
            <a:srgbClr val="0D6E4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060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Language Has a Formula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990088"/>
            <a:ext cx="2514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opinions. Use 'think', 'best', 'favorite', 'people'. Conversational titles outperform declarative ones.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2532888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532888"/>
            <a:ext cx="54864" cy="13258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6060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Sentiment Is Local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2990088"/>
            <a:ext cx="2514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 sentiment rule. Negative works in debate subs; positive wins in wholesome communities.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2532888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532888"/>
            <a:ext cx="54864" cy="132588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6060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We Can Predict (~20%)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990088"/>
            <a:ext cx="2514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alone explains 20% of comment variation. Adding NLP features is the clear next step.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224528"/>
            <a:ext cx="8503920" cy="64008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2245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For content creators: post on weekdays, mid-day, with conversational opinion-asking titles. For platforms: surface content early — most posts die from obscurity, not quality.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Technical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Q&amp;A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11155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17320"/>
            <a:ext cx="54864" cy="111556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9047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 GB Reddit (submissions + comments), Jun 2023–Jul 2024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Parquet on AWS S3, partitioned by year/month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4023360" cy="11155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417320"/>
            <a:ext cx="54864" cy="111556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9047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80136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4-node Spark cluster on EC2 (1 master + 3 workers)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jobs via spark-submit | Code in GitHub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679192"/>
            <a:ext cx="4023360" cy="11155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679192"/>
            <a:ext cx="54864" cy="111556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5234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Tools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DataFrame API | Spark SQL | Window functions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approximation (percentile_approx) for scale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679192"/>
            <a:ext cx="4023360" cy="11155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679192"/>
            <a:ext cx="54864" cy="111556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75234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Tools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06324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NLP — BERT SentimentDL | TF-IDF feature pipeline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inference — no single-machine bottleneck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941064"/>
            <a:ext cx="4023360" cy="11155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941064"/>
            <a:ext cx="54864" cy="111556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1421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Tools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32511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— LinearRegression, RandomForest, GBTRegressor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RMSE + R² | Train/test split on cluster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941064"/>
            <a:ext cx="4023360" cy="11155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941064"/>
            <a:ext cx="54864" cy="111556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401421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32511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NLP features to ML models | Run full 14-month dataset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real-time virality prediction API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Reddit Virality &amp; Controversy Analysis</dc:title>
  <dc:subject>PptxGenJS Presentation</dc:subject>
  <dc:creator>DSAN 6000 Group</dc:creator>
  <cp:lastModifiedBy>DSAN 6000 Group</cp:lastModifiedBy>
  <cp:revision>1</cp:revision>
  <dcterms:created xsi:type="dcterms:W3CDTF">2026-04-27T18:24:31Z</dcterms:created>
  <dcterms:modified xsi:type="dcterms:W3CDTF">2026-04-27T18:24:31Z</dcterms:modified>
</cp:coreProperties>
</file>